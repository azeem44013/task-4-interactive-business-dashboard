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0" y="0"/>
            <a:ext cx="3840480" cy="1920240"/>
          </a:xfrm>
          <a:prstGeom prst="rect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235440" y="1965960"/>
            <a:ext cx="2926080" cy="1554480"/>
          </a:xfrm>
          <a:prstGeom prst="rect">
            <a:avLst/>
          </a:prstGeom>
          <a:solidFill>
            <a:srgbClr val="10A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46720" y="3703320"/>
            <a:ext cx="4114800" cy="3154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35028"/>
            <a:ext cx="70408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ADD3F2"/>
                </a:solidFill>
                <a:latin typeface="Aptos"/>
              </a:defRPr>
            </a:pPr>
            <a:r>
              <a:rPr sz="2400" dirty="0">
                <a:latin typeface="Calibri"/>
              </a:rPr>
              <a:t>TASK 4 • DATA ANALYST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69750"/>
            <a:ext cx="694944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4800" dirty="0">
                <a:latin typeface="Calibri"/>
              </a:rPr>
              <a:t>Interactive Business</a:t>
            </a:r>
            <a:br>
              <a:rPr sz="4800" dirty="0"/>
            </a:br>
            <a:r>
              <a:rPr sz="4800" dirty="0">
                <a:latin typeface="Calibr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62979"/>
            <a:ext cx="63093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rPr sz="3200" dirty="0">
                <a:latin typeface="Calibri"/>
              </a:rPr>
              <a:t>E-Commerce Sales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62843"/>
            <a:ext cx="6400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DCE8F5"/>
                </a:solidFill>
                <a:latin typeface="Aptos"/>
              </a:defRPr>
            </a:pPr>
            <a:r>
              <a:rPr sz="1600" dirty="0">
                <a:latin typeface="Calibri"/>
              </a:rPr>
              <a:t>Power BI • KPI cards • Trends • Category &amp; regional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2345A"/>
                </a:solidFill>
                <a:latin typeface="Aptos"/>
              </a:defRPr>
            </a:pPr>
            <a:r>
              <a:rPr dirty="0">
                <a:latin typeface="Calibri"/>
              </a:rPr>
              <a:t>01 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1452"/>
            <a:ext cx="7070464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12345A"/>
                </a:solidFill>
                <a:latin typeface="Aptos"/>
              </a:defRPr>
            </a:pPr>
            <a:r>
              <a:rPr sz="2400" dirty="0">
                <a:latin typeface="Calibri"/>
              </a:rPr>
              <a:t>What the dashboard helps stakeholders understand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4462"/>
            <a:ext cx="10607040" cy="658368"/>
          </a:xfrm>
          <a:prstGeom prst="roundRect">
            <a:avLst/>
          </a:prstGeom>
          <a:solidFill>
            <a:srgbClr val="F2F5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399" y="2232249"/>
            <a:ext cx="2581835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2383D1"/>
                </a:solidFill>
                <a:latin typeface="Aptos"/>
              </a:defRPr>
            </a:pPr>
            <a:r>
              <a:rPr sz="2000" dirty="0">
                <a:latin typeface="Calibri"/>
              </a:rPr>
              <a:t>Monitor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8507" y="2619529"/>
            <a:ext cx="7680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rPr sz="1600" dirty="0">
                <a:latin typeface="Calibri"/>
              </a:rPr>
              <a:t>Summarize revenue, orders, customers and average order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17520"/>
            <a:ext cx="10607040" cy="658368"/>
          </a:xfrm>
          <a:prstGeom prst="roundRect">
            <a:avLst/>
          </a:prstGeom>
          <a:solidFill>
            <a:srgbClr val="F2F5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072384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0A789"/>
                </a:solidFill>
                <a:latin typeface="Aptos"/>
              </a:defRPr>
            </a:pPr>
            <a:r>
              <a:rPr>
                <a:latin typeface="Calibri"/>
              </a:rPr>
              <a:t>Explore sales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072384"/>
            <a:ext cx="7680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Track revenue across dates and compare product categories.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86200"/>
            <a:ext cx="10607040" cy="658368"/>
          </a:xfrm>
          <a:prstGeom prst="roundRect">
            <a:avLst/>
          </a:prstGeom>
          <a:solidFill>
            <a:srgbClr val="F2F5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41063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Aptos"/>
              </a:defRPr>
            </a:pPr>
            <a:r>
              <a:rPr>
                <a:latin typeface="Calibri"/>
              </a:rPr>
              <a:t>Compare business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941063"/>
            <a:ext cx="7680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Identify regional differences and payment-method 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54879"/>
            <a:ext cx="10607040" cy="658368"/>
          </a:xfrm>
          <a:prstGeom prst="roundRect">
            <a:avLst/>
          </a:prstGeom>
          <a:solidFill>
            <a:srgbClr val="F2F5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09743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2383D1"/>
                </a:solidFill>
                <a:latin typeface="Aptos"/>
              </a:defRPr>
            </a:pPr>
            <a:r>
              <a:rPr>
                <a:latin typeface="Calibri"/>
              </a:rPr>
              <a:t>Filter interactively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809743"/>
            <a:ext cx="7680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Use slicers to explore region, category, payment method and 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TASK 4  •  INTERACTIVE BUSINESS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02 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Source table: ecommerce_sales_analytics_5000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Key fields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383D1"/>
                </a:solidFill>
                <a:latin typeface="Aptos"/>
              </a:defRPr>
            </a:pPr>
            <a:r>
              <a:rPr>
                <a:latin typeface="Calibri"/>
              </a:rPr>
              <a:t>Order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965960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order_id, order_date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383D1"/>
                </a:solidFill>
                <a:latin typeface="Aptos"/>
              </a:defRPr>
            </a:pPr>
            <a:r>
              <a:rPr>
                <a:latin typeface="Calibri"/>
              </a:rPr>
              <a:t>Customer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customer_id, customer_rating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383D1"/>
                </a:solidFill>
                <a:latin typeface="Aptos"/>
              </a:defRPr>
            </a:pPr>
            <a:r>
              <a:rPr>
                <a:latin typeface="Calibri"/>
              </a:rPr>
              <a:t>Product &amp; geography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37560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product_category,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233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383D1"/>
                </a:solidFill>
                <a:latin typeface="Aptos"/>
              </a:defRPr>
            </a:pPr>
            <a:r>
              <a:rPr>
                <a:latin typeface="Calibri"/>
              </a:rPr>
              <a:t>Sales measures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023360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revenue, quantity, unit_price, discount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2383D1"/>
                </a:solidFill>
                <a:latin typeface="Aptos"/>
              </a:defRPr>
            </a:pPr>
            <a:r>
              <a:rPr>
                <a:latin typeface="Calibri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709160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payment_method, delivery_days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508760"/>
            <a:ext cx="4389120" cy="4023360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80" y="1828800"/>
            <a:ext cx="374903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Data preparation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51460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•  Confirm order_date is Date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0896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•  Confirm revenue and quantity are numeric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033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•  Check missing values and duplicate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9768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•  Verify the date range before trend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Note: Currency is unspecified; profit cannot be calculated without cost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TASK 4  •  INTERACTIVE BUSINESS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03  KPI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A quick summary of overall business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6060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82296" cy="1143000"/>
          </a:xfrm>
          <a:prstGeom prst="rect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1848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SUM(revenue)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508760"/>
            <a:ext cx="26060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82296" cy="1143000"/>
          </a:xfrm>
          <a:prstGeom prst="rect">
            <a:avLst/>
          </a:prstGeom>
          <a:solidFill>
            <a:srgbClr val="10A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8" y="161848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TOTAL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1947672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Distinct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260604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82296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61848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TOTAL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47672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Distinct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508760"/>
            <a:ext cx="2331720" cy="1143000"/>
          </a:xfrm>
          <a:prstGeom prst="roundRect">
            <a:avLst/>
          </a:prstGeom>
          <a:solidFill>
            <a:srgbClr val="F2F5F9"/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508760"/>
            <a:ext cx="82296" cy="1143000"/>
          </a:xfrm>
          <a:prstGeom prst="rect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1618488"/>
            <a:ext cx="2011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AVERAGE ORDER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1947672"/>
            <a:ext cx="20116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Revenue ÷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5468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Recommended DAX measures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703320"/>
            <a:ext cx="10515600" cy="38404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3721608"/>
            <a:ext cx="10149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263242"/>
                </a:solidFill>
                <a:latin typeface="Consolas"/>
              </a:defRPr>
            </a:pPr>
            <a:r>
              <a:rPr>
                <a:latin typeface="Calibri"/>
              </a:rPr>
              <a:t>Total Revenue = SUM('ecommerce_sales_analytics_5000'[revenue])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06240"/>
            <a:ext cx="10515600" cy="38404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224528"/>
            <a:ext cx="10149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263242"/>
                </a:solidFill>
                <a:latin typeface="Consolas"/>
              </a:defRPr>
            </a:pPr>
            <a:r>
              <a:rPr>
                <a:latin typeface="Calibri"/>
              </a:rPr>
              <a:t>Total Orders = DISTINCTCOUNT('ecommerce_sales_analytics_5000'[order_id])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09160"/>
            <a:ext cx="10515600" cy="38404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727448"/>
            <a:ext cx="10149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263242"/>
                </a:solidFill>
                <a:latin typeface="Consolas"/>
              </a:defRPr>
            </a:pPr>
            <a:r>
              <a:rPr>
                <a:latin typeface="Calibri"/>
              </a:rPr>
              <a:t>Total Customers = DISTINCTCOUNT('ecommerce_sales_analytics_5000'[customer_id])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212080"/>
            <a:ext cx="10515600" cy="384048"/>
          </a:xfrm>
          <a:prstGeom prst="round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5230368"/>
            <a:ext cx="10149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 b="0">
                <a:solidFill>
                  <a:srgbClr val="263242"/>
                </a:solidFill>
                <a:latin typeface="Consolas"/>
              </a:defRPr>
            </a:pPr>
            <a:r>
              <a:rPr>
                <a:latin typeface="Calibri"/>
              </a:rPr>
              <a:t>Average Order Value = DIVIDE([Total Revenue], [Total Orders], 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TASK 4  •  INTERACTIVE BUSINESS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04  Revenue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Line chart to identify changes in revenue across the date range.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6751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27048"/>
            <a:ext cx="630935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Revenue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56232"/>
            <a:ext cx="630935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X-axis: Calendar[Year Month]  |  Y-axis: Sum of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5413247"/>
            <a:ext cx="5897880" cy="18288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496872" y="4115714"/>
            <a:ext cx="1002640" cy="441655"/>
          </a:xfrm>
          <a:prstGeom prst="line">
            <a:avLst/>
          </a:prstGeom>
          <a:ln w="31750">
            <a:solidFill>
              <a:srgbClr val="23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99512" y="4115714"/>
            <a:ext cx="1002640" cy="220828"/>
          </a:xfrm>
          <a:prstGeom prst="line">
            <a:avLst/>
          </a:prstGeom>
          <a:ln w="31750">
            <a:solidFill>
              <a:srgbClr val="23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502152" y="3358591"/>
            <a:ext cx="1061618" cy="977951"/>
          </a:xfrm>
          <a:prstGeom prst="line">
            <a:avLst/>
          </a:prstGeom>
          <a:ln w="31750">
            <a:solidFill>
              <a:srgbClr val="23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63770" y="3358591"/>
            <a:ext cx="1061618" cy="283921"/>
          </a:xfrm>
          <a:prstGeom prst="line">
            <a:avLst/>
          </a:prstGeom>
          <a:ln w="31750">
            <a:solidFill>
              <a:srgbClr val="23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625388" y="2853842"/>
            <a:ext cx="1061619" cy="788670"/>
          </a:xfrm>
          <a:prstGeom prst="line">
            <a:avLst/>
          </a:prstGeom>
          <a:ln w="31750">
            <a:solidFill>
              <a:srgbClr val="23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455724" y="4516221"/>
            <a:ext cx="82296" cy="82296"/>
          </a:xfrm>
          <a:prstGeom prst="ellipse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58364" y="4074566"/>
            <a:ext cx="82296" cy="82296"/>
          </a:xfrm>
          <a:prstGeom prst="ellipse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61004" y="4295394"/>
            <a:ext cx="82296" cy="82296"/>
          </a:xfrm>
          <a:prstGeom prst="ellipse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22622" y="3317443"/>
            <a:ext cx="82296" cy="82296"/>
          </a:xfrm>
          <a:prstGeom prst="ellipse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7" name="Oval 16"/>
          <p:cNvSpPr/>
          <p:nvPr/>
        </p:nvSpPr>
        <p:spPr>
          <a:xfrm>
            <a:off x="5584240" y="3601364"/>
            <a:ext cx="82296" cy="82296"/>
          </a:xfrm>
          <a:prstGeom prst="ellipse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45859" y="2812694"/>
            <a:ext cx="82296" cy="82296"/>
          </a:xfrm>
          <a:prstGeom prst="ellipse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486399"/>
            <a:ext cx="58978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Time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417320"/>
            <a:ext cx="3611880" cy="4389120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173736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Build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33172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1. Insert a Line 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926079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2. Add Year Month to X-axis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520439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3. Add revenue to Y-axis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1480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4. Set aggregation to Sum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709160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5. Verify dates before interpreting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TASK 4  •  INTERACTIVE BUSINESS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05  Category &amp; Regional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Compare where revenue is generated.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527048"/>
            <a:ext cx="4892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Revenue by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56232"/>
            <a:ext cx="4892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Clustered bar chart  |  Category vs. Sum of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5550407"/>
            <a:ext cx="4480560" cy="18288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313432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322575"/>
            <a:ext cx="2962656" cy="219456"/>
          </a:xfrm>
          <a:prstGeom prst="roundRect">
            <a:avLst/>
          </a:prstGeom>
          <a:solidFill>
            <a:srgbClr val="238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971799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980943"/>
            <a:ext cx="2304288" cy="219456"/>
          </a:xfrm>
          <a:prstGeom prst="roundRect">
            <a:avLst/>
          </a:prstGeom>
          <a:solidFill>
            <a:srgbClr val="89B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630168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639311"/>
            <a:ext cx="1810512" cy="219456"/>
          </a:xfrm>
          <a:prstGeom prst="roundRect">
            <a:avLst/>
          </a:prstGeom>
          <a:solidFill>
            <a:srgbClr val="89B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288536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297680"/>
            <a:ext cx="1275588" cy="219456"/>
          </a:xfrm>
          <a:prstGeom prst="roundRect">
            <a:avLst/>
          </a:prstGeom>
          <a:solidFill>
            <a:srgbClr val="89B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946904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956048"/>
            <a:ext cx="905256" cy="219456"/>
          </a:xfrm>
          <a:prstGeom prst="roundRect">
            <a:avLst/>
          </a:prstGeom>
          <a:solidFill>
            <a:srgbClr val="89B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1527048"/>
            <a:ext cx="4892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Revenue by Region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856232"/>
            <a:ext cx="4892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Clustered column chart  |  Region vs. Sum of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5550407"/>
            <a:ext cx="4480560" cy="18288"/>
          </a:xfrm>
          <a:prstGeom prst="rect">
            <a:avLst/>
          </a:prstGeom>
          <a:solidFill>
            <a:srgbClr val="CD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2313432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2322575"/>
            <a:ext cx="2962656" cy="219456"/>
          </a:xfrm>
          <a:prstGeom prst="roundRect">
            <a:avLst/>
          </a:prstGeom>
          <a:solidFill>
            <a:srgbClr val="10A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2971799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2980943"/>
            <a:ext cx="2304288" cy="219456"/>
          </a:xfrm>
          <a:prstGeom prst="roundRect">
            <a:avLst/>
          </a:prstGeom>
          <a:solidFill>
            <a:srgbClr val="89B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630168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3639311"/>
            <a:ext cx="1810512" cy="219456"/>
          </a:xfrm>
          <a:prstGeom prst="roundRect">
            <a:avLst/>
          </a:prstGeom>
          <a:solidFill>
            <a:srgbClr val="89B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288536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297680"/>
            <a:ext cx="1275588" cy="219456"/>
          </a:xfrm>
          <a:prstGeom prst="roundRect">
            <a:avLst/>
          </a:prstGeom>
          <a:solidFill>
            <a:srgbClr val="89B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400" y="4946904"/>
            <a:ext cx="2286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4956048"/>
            <a:ext cx="905256" cy="219456"/>
          </a:xfrm>
          <a:prstGeom prst="roundRect">
            <a:avLst/>
          </a:prstGeom>
          <a:solidFill>
            <a:srgbClr val="89B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6053328"/>
            <a:ext cx="10241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Illustrative chart shapes only — connect the actual Power BI fields to display real results.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TASK 4  •  INTERACTIVE BUSINESS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06  Interactive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Add slicers so users can explore the report.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8463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664207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Field: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48463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664207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Product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Field: product_category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48463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081528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Payment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29000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Field: payment_method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971800"/>
            <a:ext cx="4846320" cy="960120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3081528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Order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29000"/>
            <a:ext cx="4297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Field: order_date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How to add: select Slicer visual → drag the matching field into the slicer → test selections to confirm the visuals update.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Optional: use Calendar[Date] for a date-range slicer after creating the Calendar relationship.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TASK 4  •  INTERACTIVE BUSINESS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07  Findings to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Use the actual report values to complete these evidence-based observations.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424160" cy="658368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8191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2383D1"/>
                </a:solidFill>
                <a:latin typeface="Aptos"/>
              </a:defRPr>
            </a:pPr>
            <a:r>
              <a:rPr>
                <a:latin typeface="Calibri"/>
              </a:rPr>
              <a:t>Category 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58191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Which product category has the highest total revenue?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39"/>
            <a:ext cx="10424160" cy="658368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450591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0A789"/>
                </a:solidFill>
                <a:latin typeface="Aptos"/>
              </a:defRPr>
            </a:pPr>
            <a:r>
              <a:rPr>
                <a:latin typeface="Calibri"/>
              </a:rPr>
              <a:t>Regional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450591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Which region contributes the most revenue?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0424160" cy="658368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31927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Aptos"/>
              </a:defRPr>
            </a:pPr>
            <a:r>
              <a:rPr>
                <a:latin typeface="Calibri"/>
              </a:rPr>
              <a:t>Payment preference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31927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Which payment method has the most distinct orders?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10424160" cy="658368"/>
          </a:xfrm>
          <a:prstGeom prst="roundRect">
            <a:avLst/>
          </a:prstGeom>
          <a:solidFill>
            <a:srgbClr val="F2F5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18795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2383D1"/>
                </a:solidFill>
                <a:latin typeface="Aptos"/>
              </a:defRPr>
            </a:pPr>
            <a:r>
              <a:rPr>
                <a:latin typeface="Calibri"/>
              </a:rPr>
              <a:t>Trend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418795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263242"/>
                </a:solidFill>
                <a:latin typeface="Aptos"/>
              </a:defRPr>
            </a:pPr>
            <a:r>
              <a:rPr>
                <a:latin typeface="Calibri"/>
              </a:rPr>
              <a:t>When does revenue rise or fall in the selected period?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4924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2345A"/>
                </a:solidFill>
                <a:latin typeface="Aptos"/>
              </a:defRPr>
            </a:pPr>
            <a:r>
              <a:rPr>
                <a:latin typeface="Calibri"/>
              </a:rPr>
              <a:t>Important limitation: the dataset has no cost field, so revenue is not the same as profit. Do not report profit or margin unless valid cost data is added.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 b="1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TASK 4  •  INTERACTIVE BUSINESS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26174"/>
                </a:solidFill>
                <a:latin typeface="Aptos"/>
              </a:defRPr>
            </a:pPr>
            <a:r>
              <a:rPr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ADD3F2"/>
                </a:solidFill>
                <a:latin typeface="Aptos"/>
              </a:defRPr>
            </a:pPr>
            <a:r>
              <a:rPr>
                <a:latin typeface="Calibri"/>
              </a:rPr>
              <a:t>FINAL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Calibri"/>
              </a:rPr>
              <a:t>Dashboard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Calibri"/>
              </a:rPr>
              <a:t>✓  Power BI report: Task_4_Interactive_Business_Dashboard.pbix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90087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Calibri"/>
              </a:rPr>
              <a:t>✓  PowerPoint summary: Task_4_Dashboard_Summary.pptx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48456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Calibri"/>
              </a:rPr>
              <a:t>✓  Dashboard screenshots for GitHub and 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06824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>
                <a:latin typeface="Calibri"/>
              </a:rPr>
              <a:t>✓  README.md with project objective, tools, visuals and 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DCE8F5"/>
                </a:solidFill>
                <a:latin typeface="Aptos"/>
              </a:defRPr>
            </a:pPr>
            <a:r>
              <a:rPr>
                <a:latin typeface="Calibri"/>
              </a:rPr>
              <a:t>E-Commerce Sales Analytics •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698</Words>
  <Application>Microsoft Office PowerPoint</Application>
  <PresentationFormat>Widescreen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Mohamed Azeem</cp:lastModifiedBy>
  <cp:revision>2</cp:revision>
  <dcterms:created xsi:type="dcterms:W3CDTF">2013-01-27T09:14:16Z</dcterms:created>
  <dcterms:modified xsi:type="dcterms:W3CDTF">2026-10-21T05:51:21Z</dcterms:modified>
  <cp:category/>
</cp:coreProperties>
</file>